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ssrn.com/abstract=6904955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shuza11.github.io/mashi-tts-bootstrap/docs/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3B7D91"/>
                </a:solidFill>
                <a:latin typeface="Aptos"/>
              </a:defRPr>
            </a:pPr>
            <a:r>
              <a:t>KIVULINGUA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676656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800" b="1">
                <a:solidFill>
                  <a:srgbClr val="1A1A1A"/>
                </a:solidFill>
                <a:latin typeface="Aptos"/>
              </a:defRPr>
            </a:pPr>
            <a:r>
              <a:t>Language technology</a:t>
            </a:r>
            <a:br/>
            <a:r>
              <a:t>rooted in community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3063240"/>
            <a:ext cx="6126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0">
                <a:solidFill>
                  <a:srgbClr val="5F5F5F"/>
                </a:solidFill>
                <a:latin typeface="Aptos"/>
              </a:defRPr>
            </a:pPr>
            <a:r>
              <a:t>Preserving Mashi and building practical speech tools for Eastern Congo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507492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3B7D91"/>
                </a:solidFill>
                <a:latin typeface="Aptos"/>
              </a:defRPr>
            </a:pPr>
            <a:r>
              <a:t>kivulinguaai.org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685800"/>
            <a:ext cx="3657600" cy="5394960"/>
          </a:xfrm>
          <a:prstGeom prst="roundRect">
            <a:avLst/>
          </a:prstGeom>
          <a:solidFill>
            <a:srgbClr val="3B7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828800"/>
            <a:ext cx="292608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Aptos"/>
              </a:defRPr>
            </a:pPr>
            <a:r>
              <a:t>MASHI</a:t>
            </a:r>
            <a:br/>
            <a:r>
              <a:t>FIRST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3657600"/>
            <a:ext cx="27432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0">
                <a:solidFill>
                  <a:srgbClr val="FFFFFF"/>
                </a:solidFill>
                <a:latin typeface="Aptos"/>
              </a:defRPr>
            </a:pPr>
            <a:r>
              <a:t>Community voice</a:t>
            </a:r>
            <a:br/>
            <a:r>
              <a:t>Community ownership</a:t>
            </a:r>
            <a:br/>
            <a:r>
              <a:t>Useful local tools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73952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F5F5F"/>
                </a:solidFill>
                <a:latin typeface="Aptos"/>
              </a:defRPr>
            </a:pPr>
            <a:r>
              <a:t>KivuLingua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5F5F5F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3B7D91"/>
                </a:solidFill>
                <a:latin typeface="Aptos"/>
              </a:defRPr>
            </a:pPr>
            <a:r>
              <a:t>WHY KIVULINGUA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1A1A1A"/>
                </a:solidFill>
                <a:latin typeface="Aptos"/>
              </a:defRPr>
            </a:pPr>
            <a:r>
              <a:t>The initiative and its goal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53312"/>
            <a:ext cx="960120" cy="64008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347472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92808"/>
            <a:ext cx="3017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3B7D91"/>
                </a:solidFill>
                <a:latin typeface="Aptos"/>
              </a:defRPr>
            </a:pPr>
            <a:r>
              <a:t>The 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59152"/>
            <a:ext cx="3017520" cy="2788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  <a:latin typeface="Aptos"/>
              </a:defRPr>
            </a:pPr>
            <a:r>
              <a:t>Mashi and many Eastern Congo languages have little high quality digital speech data. This limits access to voice technology, education tools, and local digital services.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691640"/>
            <a:ext cx="347472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9432" y="1892808"/>
            <a:ext cx="3017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D4A574"/>
                </a:solidFill>
                <a:latin typeface="Aptos"/>
              </a:defRPr>
            </a:pPr>
            <a:r>
              <a:t>Our response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9432" y="2359152"/>
            <a:ext cx="3017520" cy="2788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  <a:latin typeface="Aptos"/>
              </a:defRPr>
            </a:pPr>
            <a:r>
              <a:t>Build ethical, community governed speech resources and practical tools for automatic speech recognition and text to speech.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01583" y="1691640"/>
            <a:ext cx="347472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30183" y="1892808"/>
            <a:ext cx="3017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3B7D91"/>
                </a:solidFill>
                <a:latin typeface="Aptos"/>
              </a:defRPr>
            </a:pPr>
            <a:r>
              <a:t>Long term goal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0183" y="2359152"/>
            <a:ext cx="3017520" cy="2788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  <a:latin typeface="Aptos"/>
              </a:defRPr>
            </a:pPr>
            <a:r>
              <a:t>Create reusable language infrastructure that communities can own, validate, and expand across Eastern Congo.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806440"/>
            <a:ext cx="6217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3B7D91"/>
                </a:solidFill>
                <a:latin typeface="Aptos"/>
              </a:defRPr>
            </a:pPr>
            <a:r>
              <a:t>Website and domain: kivulinguaai.org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73952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F5F5F"/>
                </a:solidFill>
                <a:latin typeface="Aptos"/>
              </a:defRPr>
            </a:pPr>
            <a:r>
              <a:t>KivuLingua 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5F5F5F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3B7D91"/>
                </a:solidFill>
                <a:latin typeface="Aptos"/>
              </a:defRPr>
            </a:pPr>
            <a:r>
              <a:t>FIRST TARGET LANGUAGE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1A1A1A"/>
                </a:solidFill>
                <a:latin typeface="Aptos"/>
              </a:defRPr>
            </a:pPr>
            <a:r>
              <a:t>Mashi, also called Shi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53312"/>
            <a:ext cx="960120" cy="64008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4023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1A1A1A"/>
                </a:solidFill>
                <a:latin typeface="Aptos"/>
              </a:defRPr>
            </a:pPr>
            <a:r>
              <a:t>Why start with Mashi?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54864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1A1A1A"/>
                </a:solidFill>
                <a:latin typeface="Aptos"/>
              </a:defRPr>
            </a:pPr>
            <a:r>
              <a:t>• A major language of the Bushi region</a:t>
            </a:r>
          </a:p>
          <a:p>
            <a:pPr>
              <a:spcAft>
                <a:spcPts val="1100"/>
              </a:spcAft>
              <a:defRPr sz="1800">
                <a:solidFill>
                  <a:srgbClr val="1A1A1A"/>
                </a:solidFill>
                <a:latin typeface="Aptos"/>
              </a:defRPr>
            </a:pPr>
            <a:r>
              <a:t>• Native speaker and cultural community support already exists</a:t>
            </a:r>
          </a:p>
          <a:p>
            <a:pPr>
              <a:spcAft>
                <a:spcPts val="1100"/>
              </a:spcAft>
              <a:defRPr sz="1800">
                <a:solidFill>
                  <a:srgbClr val="1A1A1A"/>
                </a:solidFill>
                <a:latin typeface="Aptos"/>
              </a:defRPr>
            </a:pPr>
            <a:r>
              <a:t>• Local validation and transcription capacity is available</a:t>
            </a:r>
          </a:p>
          <a:p>
            <a:pPr>
              <a:spcAft>
                <a:spcPts val="1100"/>
              </a:spcAft>
              <a:defRPr sz="1800">
                <a:solidFill>
                  <a:srgbClr val="1A1A1A"/>
                </a:solidFill>
                <a:latin typeface="Aptos"/>
              </a:defRPr>
            </a:pPr>
            <a:r>
              <a:t>• A practical starting point for ASR and TTS development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1645920"/>
            <a:ext cx="4846320" cy="4297680"/>
          </a:xfrm>
          <a:prstGeom prst="roundRect">
            <a:avLst/>
          </a:prstGeom>
          <a:solidFill>
            <a:srgbClr val="E8F2F4"/>
          </a:solidFill>
          <a:ln>
            <a:solidFill>
              <a:srgbClr val="3B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86600" y="2057400"/>
            <a:ext cx="3931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300" b="1">
                <a:solidFill>
                  <a:srgbClr val="3B7D91"/>
                </a:solidFill>
                <a:latin typeface="Aptos"/>
              </a:defRPr>
            </a:pPr>
            <a:r>
              <a:t>Expansion path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50608" y="2743200"/>
            <a:ext cx="379476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0">
                <a:solidFill>
                  <a:srgbClr val="1A1A1A"/>
                </a:solidFill>
                <a:latin typeface="Aptos"/>
              </a:defRPr>
            </a:pPr>
            <a:r>
              <a:t>Mashi provides the method, governance model, and technical foundation that can later support other Kivu languages.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8040" y="4754880"/>
            <a:ext cx="374903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D4A574"/>
                </a:solidFill>
                <a:latin typeface="Aptos"/>
              </a:defRPr>
            </a:pPr>
            <a:r>
              <a:t>Start focused. Learn locally. Scale responsibly.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73952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F5F5F"/>
                </a:solidFill>
                <a:latin typeface="Aptos"/>
              </a:defRPr>
            </a:pPr>
            <a:r>
              <a:t>KivuLingua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5F5F5F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3B7D91"/>
                </a:solidFill>
                <a:latin typeface="Aptos"/>
              </a:defRPr>
            </a:pPr>
            <a:r>
              <a:t>INFRASTRUCTURE BEFORE ANNOTATION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1A1A1A"/>
                </a:solidFill>
                <a:latin typeface="Aptos"/>
              </a:defRPr>
            </a:pPr>
            <a:r>
              <a:t>Our approach: datafication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53312"/>
            <a:ext cx="960120" cy="64008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1A1A1A"/>
                </a:solidFill>
                <a:latin typeface="Aptos"/>
              </a:defRPr>
            </a:pPr>
            <a:r>
              <a:t>We build tools that communities use in real life. As people use the tools, they help generate useful language data themselves.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88920"/>
            <a:ext cx="338328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990088"/>
            <a:ext cx="29260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3B7D91"/>
                </a:solidFill>
                <a:latin typeface="Aptos"/>
              </a:defRPr>
            </a:pPr>
            <a:r>
              <a:t>Useful tools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456432"/>
            <a:ext cx="29260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  <a:latin typeface="Aptos"/>
              </a:defRPr>
            </a:pPr>
            <a:r>
              <a:t>Education, culture, health, and communication tools designed around community needs.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2788920"/>
            <a:ext cx="338328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8" y="2990088"/>
            <a:ext cx="29260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D4A574"/>
                </a:solidFill>
                <a:latin typeface="Aptos"/>
              </a:defRPr>
            </a:pPr>
            <a:r>
              <a:t>Continuous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8" y="3456432"/>
            <a:ext cx="29260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  <a:latin typeface="Aptos"/>
              </a:defRPr>
            </a:pPr>
            <a:r>
              <a:t>Speech and text data grows through normal use instead of one expensive collection campaign.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3296" y="2788920"/>
            <a:ext cx="338328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11896" y="2990088"/>
            <a:ext cx="29260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3B7D91"/>
                </a:solidFill>
                <a:latin typeface="Aptos"/>
              </a:defRPr>
            </a:pPr>
            <a:r>
              <a:t>Community control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1896" y="3456432"/>
            <a:ext cx="29260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  <a:latin typeface="Aptos"/>
              </a:defRPr>
            </a:pPr>
            <a:r>
              <a:t>Consent, validation, access rules, and benefits are governed with the language community.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53212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5F5F5F"/>
                </a:solidFill>
                <a:latin typeface="Aptos"/>
              </a:defRPr>
            </a:pPr>
            <a:r>
              <a:rPr>
                <a:hlinkClick r:id="rId2"/>
              </a:rPr>
              <a:t>Based on Jean Louis Fendji Kedieng Ebongue, Beyond Dataset Creation: The Datafication Blind Spot in African AI Policy and a Framework for Addressing It, 2026.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73952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F5F5F"/>
                </a:solidFill>
                <a:latin typeface="Aptos"/>
              </a:defRPr>
            </a:pPr>
            <a:r>
              <a:t>KivuLingua 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5F5F5F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3B7D91"/>
                </a:solidFill>
                <a:latin typeface="Aptos"/>
              </a:defRPr>
            </a:pPr>
            <a:r>
              <a:t>NEW COMMONS INCUBATOR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1A1A1A"/>
                </a:solidFill>
                <a:latin typeface="Aptos"/>
              </a:defRPr>
            </a:pPr>
            <a:r>
              <a:t>Community governance and validation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53312"/>
            <a:ext cx="960120" cy="64008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100" b="1">
                <a:solidFill>
                  <a:srgbClr val="3B7D91"/>
                </a:solidFill>
                <a:latin typeface="Aptos"/>
              </a:defRPr>
            </a:pPr>
            <a:r>
              <a:t>New Commons Incubator for Indigenous Languages and Cultures: Governance and Protocol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14600"/>
            <a:ext cx="342900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715768"/>
            <a:ext cx="2971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3B7D91"/>
                </a:solidFill>
                <a:latin typeface="Aptos"/>
              </a:defRPr>
            </a:pPr>
            <a:r>
              <a:t>Community partners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182112"/>
            <a:ext cx="29718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  <a:latin typeface="Aptos"/>
              </a:defRPr>
            </a:pPr>
            <a:r>
              <a:t>MASHI RHWAGANIRA</a:t>
            </a:r>
            <a:br/>
            <a:r>
              <a:t>Ndaro Culture</a:t>
            </a:r>
            <a:br/>
            <a:r>
              <a:t>Native speakers and cultural custodians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514600"/>
            <a:ext cx="342900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2715768"/>
            <a:ext cx="2971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D4A574"/>
                </a:solidFill>
                <a:latin typeface="Aptos"/>
              </a:defRPr>
            </a:pPr>
            <a:r>
              <a:t>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3182112"/>
            <a:ext cx="29718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  <a:latin typeface="Aptos"/>
              </a:defRPr>
            </a:pPr>
            <a:r>
              <a:t>Communities review pronunciation, spelling, meaning, cultural context, and speaker representation.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514600"/>
            <a:ext cx="342900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2715768"/>
            <a:ext cx="2971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3B7D91"/>
                </a:solidFill>
                <a:latin typeface="Aptos"/>
              </a:defRPr>
            </a:pPr>
            <a:r>
              <a:t>Protocol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3182112"/>
            <a:ext cx="29718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  <a:latin typeface="Aptos"/>
              </a:defRPr>
            </a:pPr>
            <a:r>
              <a:t>Clear consent, representation, governance, access, attribution, and benefit sharing before wider release.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5532120"/>
            <a:ext cx="9784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900" b="1">
                <a:solidFill>
                  <a:srgbClr val="1A1A1A"/>
                </a:solidFill>
                <a:latin typeface="Aptos"/>
              </a:defRPr>
            </a:pPr>
            <a:r>
              <a:t>The community is not only a data source. It is a decision maker and beneficiary.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73952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F5F5F"/>
                </a:solidFill>
                <a:latin typeface="Aptos"/>
              </a:defRPr>
            </a:pPr>
            <a:r>
              <a:t>KivuLingua 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5F5F5F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3B7D91"/>
                </a:solidFill>
                <a:latin typeface="Aptos"/>
              </a:defRPr>
            </a:pPr>
            <a:r>
              <a:t>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1A1A1A"/>
                </a:solidFill>
                <a:latin typeface="Aptos"/>
              </a:defRPr>
            </a:pPr>
            <a:r>
              <a:t>What we already have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53312"/>
            <a:ext cx="960120" cy="64008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645920"/>
            <a:ext cx="34747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47088"/>
            <a:ext cx="3017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3B7D91"/>
                </a:solidFill>
                <a:latin typeface="Aptos"/>
              </a:defRPr>
            </a:pPr>
            <a:r>
              <a:t>10 hours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13432"/>
            <a:ext cx="3017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  <a:latin typeface="Aptos"/>
              </a:defRPr>
            </a:pPr>
            <a:r>
              <a:t>Mashi speech curated and organized as a starting corpus.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645920"/>
            <a:ext cx="34747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9432" y="1847088"/>
            <a:ext cx="3017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D4A574"/>
                </a:solidFill>
                <a:latin typeface="Aptos"/>
              </a:defRPr>
            </a:pPr>
            <a:r>
              <a:t>1.5 hours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9432" y="2313432"/>
            <a:ext cx="3017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  <a:latin typeface="Aptos"/>
              </a:defRPr>
            </a:pPr>
            <a:r>
              <a:t>Speech transcribed and prepared for the first experiment.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55864" y="1645920"/>
            <a:ext cx="34747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84464" y="1847088"/>
            <a:ext cx="3017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3B7D91"/>
                </a:solidFill>
                <a:latin typeface="Aptos"/>
              </a:defRPr>
            </a:pPr>
            <a:r>
              <a:t>First TTS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4464" y="2313432"/>
            <a:ext cx="3017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  <a:latin typeface="Aptos"/>
              </a:defRPr>
            </a:pPr>
            <a:r>
              <a:t>A Coqui TTS model was fine tuned as an early technical proof of concept.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886200"/>
            <a:ext cx="2743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1A1A1A"/>
                </a:solidFill>
                <a:latin typeface="Aptos"/>
              </a:defRPr>
            </a:pPr>
            <a:r>
              <a:t>Mashi TTS Bootstrap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434840"/>
            <a:ext cx="7132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3B7D91"/>
                </a:solidFill>
                <a:latin typeface="Aptos"/>
              </a:defRPr>
            </a:pPr>
            <a:r>
              <a:rPr>
                <a:hlinkClick r:id="rId2"/>
              </a:rPr>
              <a:t>ashuza11.github.io/mashi-tts-bootstrap/docs/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166360"/>
            <a:ext cx="106984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5F5F5F"/>
                </a:solidFill>
                <a:latin typeface="Aptos"/>
              </a:defRPr>
            </a:pPr>
            <a:r>
              <a:t>Also available: the KivuLingua website, domain, project narrative, language priorities, team, and public roadmap.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73952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F5F5F"/>
                </a:solidFill>
                <a:latin typeface="Aptos"/>
              </a:defRPr>
            </a:pPr>
            <a:r>
              <a:t>KivuLingua 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5F5F5F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3B7D91"/>
                </a:solidFill>
                <a:latin typeface="Aptos"/>
              </a:defRPr>
            </a:pPr>
            <a:r>
              <a:t>PEOPLE AND PARTNERS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1A1A1A"/>
                </a:solidFill>
                <a:latin typeface="Aptos"/>
              </a:defRPr>
            </a:pPr>
            <a:r>
              <a:t>A multidisciplinary team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53312"/>
            <a:ext cx="960120" cy="64008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3B7D91"/>
                </a:solidFill>
                <a:latin typeface="Aptos"/>
              </a:defRPr>
            </a:pPr>
            <a:r>
              <a:t>Consortium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11680"/>
            <a:ext cx="3840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1A1A1A"/>
                </a:solidFill>
                <a:latin typeface="Aptos"/>
              </a:defRPr>
            </a:pPr>
            <a:r>
              <a:t>• African STEM Resources Hub</a:t>
            </a:r>
          </a:p>
          <a:p>
            <a:pPr>
              <a:spcAft>
                <a:spcPts val="1100"/>
              </a:spcAft>
              <a:defRPr sz="1700">
                <a:solidFill>
                  <a:srgbClr val="1A1A1A"/>
                </a:solidFill>
                <a:latin typeface="Aptos"/>
              </a:defRPr>
            </a:pPr>
            <a:r>
              <a:t>• Kwetu Best Technologies SARL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60020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D4A574"/>
                </a:solidFill>
                <a:latin typeface="Aptos"/>
              </a:defRPr>
            </a:pPr>
            <a:r>
              <a:t>Core 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01168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300">
                <a:solidFill>
                  <a:srgbClr val="1A1A1A"/>
                </a:solidFill>
                <a:latin typeface="Aptos"/>
              </a:defRPr>
            </a:pPr>
            <a:r>
              <a:t>• Muhigiri Ashuza Albin: AI, partnerships, grants, project management</a:t>
            </a:r>
          </a:p>
          <a:p>
            <a:pPr>
              <a:spcAft>
                <a:spcPts val="1100"/>
              </a:spcAft>
              <a:defRPr sz="1300">
                <a:solidFill>
                  <a:srgbClr val="1A1A1A"/>
                </a:solidFill>
                <a:latin typeface="Aptos"/>
              </a:defRPr>
            </a:pPr>
            <a:r>
              <a:t>• David Krame: research and model optimization</a:t>
            </a:r>
          </a:p>
          <a:p>
            <a:pPr>
              <a:spcAft>
                <a:spcPts val="1100"/>
              </a:spcAft>
              <a:defRPr sz="1300">
                <a:solidFill>
                  <a:srgbClr val="1A1A1A"/>
                </a:solidFill>
                <a:latin typeface="Aptos"/>
              </a:defRPr>
            </a:pPr>
            <a:r>
              <a:t>• Victoria Chasi: data governance and policy</a:t>
            </a:r>
          </a:p>
          <a:p>
            <a:pPr>
              <a:spcAft>
                <a:spcPts val="1100"/>
              </a:spcAft>
              <a:defRPr sz="1300">
                <a:solidFill>
                  <a:srgbClr val="1A1A1A"/>
                </a:solidFill>
                <a:latin typeface="Aptos"/>
              </a:defRPr>
            </a:pPr>
            <a:r>
              <a:t>• Ciruza Alain: AI architecture and ML infrastructure</a:t>
            </a:r>
          </a:p>
          <a:p>
            <a:pPr>
              <a:spcAft>
                <a:spcPts val="1100"/>
              </a:spcAft>
              <a:defRPr sz="1300">
                <a:solidFill>
                  <a:srgbClr val="1A1A1A"/>
                </a:solidFill>
                <a:latin typeface="Aptos"/>
              </a:defRPr>
            </a:pPr>
            <a:r>
              <a:t>• Marius Nshombo: Mashi language validation</a:t>
            </a:r>
          </a:p>
          <a:p>
            <a:pPr>
              <a:spcAft>
                <a:spcPts val="1100"/>
              </a:spcAft>
              <a:defRPr sz="1300">
                <a:solidFill>
                  <a:srgbClr val="1A1A1A"/>
                </a:solidFill>
                <a:latin typeface="Aptos"/>
              </a:defRPr>
            </a:pPr>
            <a:r>
              <a:t>• Prof. Gervais Chirhalwirwha Nkunzimwami: linguistic and community advice</a:t>
            </a:r>
          </a:p>
          <a:p>
            <a:pPr>
              <a:spcAft>
                <a:spcPts val="1100"/>
              </a:spcAft>
              <a:defRPr sz="1300">
                <a:solidFill>
                  <a:srgbClr val="1A1A1A"/>
                </a:solidFill>
                <a:latin typeface="Aptos"/>
              </a:defRPr>
            </a:pPr>
            <a:r>
              <a:t>• Aristide Chiza: project operations</a:t>
            </a:r>
          </a:p>
          <a:p>
            <a:pPr>
              <a:spcAft>
                <a:spcPts val="1100"/>
              </a:spcAft>
              <a:defRPr sz="1300">
                <a:solidFill>
                  <a:srgbClr val="1A1A1A"/>
                </a:solidFill>
                <a:latin typeface="Aptos"/>
              </a:defRPr>
            </a:pPr>
            <a:r>
              <a:t>• Dr. Abednego Wamuhindo Kambale: edge AI</a:t>
            </a:r>
          </a:p>
          <a:p>
            <a:pPr>
              <a:spcAft>
                <a:spcPts val="1100"/>
              </a:spcAft>
              <a:defRPr sz="1300">
                <a:solidFill>
                  <a:srgbClr val="1A1A1A"/>
                </a:solidFill>
                <a:latin typeface="Aptos"/>
              </a:defRPr>
            </a:pPr>
            <a:r>
              <a:t>• Dr. Joaquim Mbasa: data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73952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F5F5F"/>
                </a:solidFill>
                <a:latin typeface="Aptos"/>
              </a:defRPr>
            </a:pPr>
            <a:r>
              <a:t>KivuLingua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5F5F5F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3B7D91"/>
                </a:solidFill>
                <a:latin typeface="Aptos"/>
              </a:defRPr>
            </a:pPr>
            <a:r>
              <a:t>FOUR CONNECTED PHASES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1A1A1A"/>
                </a:solidFill>
                <a:latin typeface="Aptos"/>
              </a:defRPr>
            </a:pPr>
            <a:r>
              <a:t>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53312"/>
            <a:ext cx="960120" cy="64008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00200"/>
            <a:ext cx="10835640" cy="3584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440680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3B7D91"/>
                </a:solidFill>
                <a:latin typeface="Aptos"/>
              </a:defRPr>
            </a:pPr>
            <a:r>
              <a:t>Governance setup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0" y="5440680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D4A574"/>
                </a:solidFill>
                <a:latin typeface="Aptos"/>
              </a:defRPr>
            </a:pPr>
            <a:r>
              <a:t>Data collection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5440680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3B7D91"/>
                </a:solidFill>
                <a:latin typeface="Aptos"/>
              </a:defRPr>
            </a:pPr>
            <a:r>
              <a:t>Model development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0" y="5440680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3B7D91"/>
                </a:solidFill>
                <a:latin typeface="Aptos"/>
              </a:defRPr>
            </a:pPr>
            <a:r>
              <a:t>Impact and scale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73952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F5F5F"/>
                </a:solidFill>
                <a:latin typeface="Aptos"/>
              </a:defRPr>
            </a:pPr>
            <a:r>
              <a:t>KivuLingua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5F5F5F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3B7D91"/>
                </a:solidFill>
                <a:latin typeface="Aptos"/>
              </a:defRPr>
            </a:pPr>
            <a:r>
              <a:t>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1A1A1A"/>
                </a:solidFill>
                <a:latin typeface="Aptos"/>
              </a:defRPr>
            </a:pPr>
            <a:r>
              <a:t>The next milestone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53312"/>
            <a:ext cx="960120" cy="64008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698480" cy="2834640"/>
          </a:xfrm>
          <a:prstGeom prst="roundRect">
            <a:avLst/>
          </a:prstGeom>
          <a:solidFill>
            <a:srgbClr val="F7EEE3"/>
          </a:solidFill>
          <a:ln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2057400"/>
            <a:ext cx="96926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000" b="1">
                <a:solidFill>
                  <a:srgbClr val="1A1A1A"/>
                </a:solidFill>
                <a:latin typeface="Aptos"/>
              </a:defRPr>
            </a:pPr>
            <a:r>
              <a:t>Expand to 8 to 10 hours of well transcribed and annotated Mashi speech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3337560"/>
            <a:ext cx="9509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100" b="1">
                <a:solidFill>
                  <a:srgbClr val="3B7D91"/>
                </a:solidFill>
                <a:latin typeface="Aptos"/>
              </a:defRPr>
            </a:pPr>
            <a:r>
              <a:t>The dataset will be prepared for both TTS and ASR fine tuning.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4800600"/>
            <a:ext cx="8595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1A1A1A"/>
                </a:solidFill>
                <a:latin typeface="Aptos"/>
              </a:defRPr>
            </a:pPr>
            <a:r>
              <a:t>• Complete transcription and annotation quality checks</a:t>
            </a:r>
          </a:p>
          <a:p>
            <a:pPr>
              <a:spcAft>
                <a:spcPts val="1100"/>
              </a:spcAft>
              <a:defRPr sz="1700">
                <a:solidFill>
                  <a:srgbClr val="1A1A1A"/>
                </a:solidFill>
                <a:latin typeface="Aptos"/>
              </a:defRPr>
            </a:pPr>
            <a:r>
              <a:t>• Validate language and representation with community partners</a:t>
            </a:r>
          </a:p>
          <a:p>
            <a:pPr>
              <a:spcAft>
                <a:spcPts val="1100"/>
              </a:spcAft>
              <a:defRPr sz="1700">
                <a:solidFill>
                  <a:srgbClr val="1A1A1A"/>
                </a:solidFill>
                <a:latin typeface="Aptos"/>
              </a:defRPr>
            </a:pPr>
            <a:r>
              <a:t>• Fine tune and evaluate Mashi TTS and ASR models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73952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F5F5F"/>
                </a:solidFill>
                <a:latin typeface="Aptos"/>
              </a:defRPr>
            </a:pPr>
            <a:r>
              <a:t>KivuLingua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5F5F5F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